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1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05840"/>
            <a:ext cx="146304" cy="4480560"/>
          </a:xfrm>
          <a:prstGeom prst="roundRect">
            <a:avLst/>
          </a:prstGeom>
          <a:solidFill>
            <a:srgbClr val="4CB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34440" y="1417320"/>
            <a:ext cx="9875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3500" b="1">
                <a:solidFill>
                  <a:srgbClr val="FFFFFF"/>
                </a:solidFill>
                <a:latin typeface="Noto Sans CJK SC"/>
              </a:defRPr>
            </a:pPr>
            <a:r>
              <a:t>建筑空调系统能耗分析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0"/>
            <a:ext cx="91440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FFFFFF"/>
                </a:solidFill>
                <a:latin typeface="Noto Sans CJK SC"/>
              </a:defRPr>
            </a:pPr>
            <a:r>
              <a:t>建筑类型相关性 · 日周期 · 非工作时段高负荷事件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852160"/>
            <a:ext cx="9144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t>基于 2016–2017 年逐小时建筑运行数据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37160"/>
          </a:xfrm>
          <a:prstGeom prst="roundRect">
            <a:avLst/>
          </a:prstGeom>
          <a:solidFill>
            <a:srgbClr val="266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83146"/>
                </a:solidFill>
                <a:latin typeface="Noto Sans CJK SC"/>
              </a:defRPr>
            </a:pPr>
            <a:r>
              <a:t>项目背景与研究问题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4C5860"/>
                </a:solidFill>
                <a:latin typeface="Noto Sans CJK SC"/>
              </a:defRPr>
            </a:pPr>
            <a:r>
              <a:t>描述性统计分析；结论限于观察到的读数模式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900"/>
              </a:spcAft>
              <a:defRPr sz="900" b="0">
                <a:solidFill>
                  <a:srgbClr val="4C5860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1143000"/>
          </a:xfrm>
          <a:prstGeom prst="roundRect">
            <a:avLst/>
          </a:prstGeom>
          <a:solidFill>
            <a:srgbClr val="EC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18488"/>
            <a:ext cx="1005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26648C"/>
                </a:solidFill>
                <a:latin typeface="Noto Sans CJK SC"/>
              </a:defRPr>
            </a:pPr>
            <a:r>
              <a:t>RQ1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1600200"/>
            <a:ext cx="88696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83146"/>
                </a:solidFill>
                <a:latin typeface="Noto Sans CJK SC"/>
              </a:defRPr>
            </a:pPr>
            <a:r>
              <a:t>不同建筑类型的温度—能耗响应是否存在差异？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10698480" cy="1143000"/>
          </a:xfrm>
          <a:prstGeom prst="roundRect">
            <a:avLst/>
          </a:prstGeom>
          <a:solidFill>
            <a:srgbClr val="EC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172968"/>
            <a:ext cx="1005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26648C"/>
                </a:solidFill>
                <a:latin typeface="Noto Sans CJK SC"/>
              </a:defRPr>
            </a:pPr>
            <a:r>
              <a:t>RQ2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3154679"/>
            <a:ext cx="88696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83146"/>
                </a:solidFill>
                <a:latin typeface="Noto Sans CJK SC"/>
              </a:defRPr>
            </a:pPr>
            <a:r>
              <a:t>建筑能源使用是否存在明显日周期和工作日模式？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72000"/>
            <a:ext cx="10698480" cy="1143000"/>
          </a:xfrm>
          <a:prstGeom prst="roundRect">
            <a:avLst/>
          </a:prstGeom>
          <a:solidFill>
            <a:srgbClr val="EC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727448"/>
            <a:ext cx="1005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26648C"/>
                </a:solidFill>
                <a:latin typeface="Noto Sans CJK SC"/>
              </a:defRPr>
            </a:pPr>
            <a:r>
              <a:t>RQ3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4709160"/>
            <a:ext cx="88696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83146"/>
                </a:solidFill>
                <a:latin typeface="Noto Sans CJK SC"/>
              </a:defRPr>
            </a:pPr>
            <a:r>
              <a:t>哪些时段存在非典型高负荷运行事件？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37160"/>
          </a:xfrm>
          <a:prstGeom prst="roundRect">
            <a:avLst/>
          </a:prstGeom>
          <a:solidFill>
            <a:srgbClr val="266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83146"/>
                </a:solidFill>
                <a:latin typeface="Noto Sans CJK SC"/>
              </a:defRPr>
            </a:pPr>
            <a:r>
              <a:t>数据介绍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4C5860"/>
                </a:solidFill>
                <a:latin typeface="Noto Sans CJK SC"/>
              </a:defRPr>
            </a:pPr>
            <a:r>
              <a:t>四份项目输入 CSV；表计值均保留原始单位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900"/>
              </a:spcAft>
              <a:defRPr sz="900" b="0">
                <a:solidFill>
                  <a:srgbClr val="4C5860"/>
                </a:solidFill>
                <a:latin typeface="Noto Sans CJK SC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120640" cy="1417320"/>
          </a:xfrm>
          <a:prstGeom prst="roundRect">
            <a:avLst/>
          </a:prstGeom>
          <a:solidFill>
            <a:srgbClr val="EC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27048"/>
            <a:ext cx="2194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26648C"/>
                </a:solidFill>
                <a:latin typeface="Noto Sans CJK SC"/>
              </a:defRPr>
            </a:pPr>
            <a:r>
              <a:t>1,636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645920"/>
            <a:ext cx="2697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3146"/>
                </a:solidFill>
                <a:latin typeface="Noto Sans CJK SC"/>
              </a:defRPr>
            </a:pPr>
            <a:r>
              <a:t>建筑元数据行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417320"/>
            <a:ext cx="5120640" cy="1417320"/>
          </a:xfrm>
          <a:prstGeom prst="roundRect">
            <a:avLst/>
          </a:prstGeom>
          <a:solidFill>
            <a:srgbClr val="EC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527048"/>
            <a:ext cx="2194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26648C"/>
                </a:solidFill>
                <a:latin typeface="Noto Sans CJK SC"/>
              </a:defRPr>
            </a:pPr>
            <a:r>
              <a:t>331,166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1645920"/>
            <a:ext cx="2697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3146"/>
                </a:solidFill>
                <a:latin typeface="Noto Sans CJK SC"/>
              </a:defRPr>
            </a:pPr>
            <a:r>
              <a:t>天气记录行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54680"/>
            <a:ext cx="5120640" cy="1417320"/>
          </a:xfrm>
          <a:prstGeom prst="roundRect">
            <a:avLst/>
          </a:prstGeom>
          <a:solidFill>
            <a:srgbClr val="EC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264408"/>
            <a:ext cx="2194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26648C"/>
                </a:solidFill>
                <a:latin typeface="Noto Sans CJK SC"/>
              </a:defRPr>
            </a:pPr>
            <a:r>
              <a:t>1,578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383280"/>
            <a:ext cx="2697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3146"/>
                </a:solidFill>
                <a:latin typeface="Noto Sans CJK SC"/>
              </a:defRPr>
            </a:pPr>
            <a:r>
              <a:t>电力表建筑列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154680"/>
            <a:ext cx="5120640" cy="1417320"/>
          </a:xfrm>
          <a:prstGeom prst="roundRect">
            <a:avLst/>
          </a:prstGeom>
          <a:solidFill>
            <a:srgbClr val="EC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3264408"/>
            <a:ext cx="2194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26648C"/>
                </a:solidFill>
                <a:latin typeface="Noto Sans CJK SC"/>
              </a:defRPr>
            </a:pPr>
            <a:r>
              <a:t>555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383280"/>
            <a:ext cx="2697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3146"/>
                </a:solidFill>
                <a:latin typeface="Noto Sans CJK SC"/>
              </a:defRPr>
            </a:pPr>
            <a:r>
              <a:t>冷水表建筑列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38928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4C5860"/>
                </a:solidFill>
                <a:latin typeface="Noto Sans CJK SC"/>
              </a:defRPr>
            </a:pPr>
            <a:r>
              <a:t>两类表计各覆盖 17,544 小时（2016-01-01 至 2017-12-31）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37160"/>
          </a:xfrm>
          <a:prstGeom prst="roundRect">
            <a:avLst/>
          </a:prstGeom>
          <a:solidFill>
            <a:srgbClr val="266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83146"/>
                </a:solidFill>
                <a:latin typeface="Noto Sans CJK SC"/>
              </a:defRPr>
            </a:pPr>
            <a:r>
              <a:t>方法与质量控制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4C5860"/>
                </a:solidFill>
                <a:latin typeface="Noto Sans CJK SC"/>
              </a:defRPr>
            </a:pPr>
            <a:r>
              <a:t>先筛选，再计算相关性、时段模式与高负荷事件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900"/>
              </a:spcAft>
              <a:defRPr sz="900" b="0">
                <a:solidFill>
                  <a:srgbClr val="4C5860"/>
                </a:solidFill>
                <a:latin typeface="Noto Sans CJK SC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98480" cy="1234440"/>
          </a:xfrm>
          <a:prstGeom prst="roundRect">
            <a:avLst/>
          </a:prstGeom>
          <a:solidFill>
            <a:srgbClr val="EC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536192"/>
            <a:ext cx="7315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26648C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47088" y="1453896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183146"/>
                </a:solidFill>
                <a:latin typeface="Noto Sans CJK SC"/>
              </a:defRPr>
            </a:pPr>
            <a:r>
              <a:t>缺失率筛选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47088" y="1874519"/>
            <a:ext cx="9052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4C5860"/>
                </a:solidFill>
                <a:latin typeface="Noto Sans CJK SC"/>
              </a:defRPr>
            </a:pPr>
            <a:r>
              <a:t>2,133 条建筑×表计记录；126 条 &gt;50% 排除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26080"/>
            <a:ext cx="10698480" cy="1234440"/>
          </a:xfrm>
          <a:prstGeom prst="roundRect">
            <a:avLst/>
          </a:prstGeom>
          <a:solidFill>
            <a:srgbClr val="EC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3090672"/>
            <a:ext cx="7315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26648C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3008376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183146"/>
                </a:solidFill>
                <a:latin typeface="Noto Sans CJK SC"/>
              </a:defRPr>
            </a:pPr>
            <a:r>
              <a:t>相关性与时段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7088" y="3429000"/>
            <a:ext cx="9052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4C5860"/>
                </a:solidFill>
                <a:latin typeface="Noto Sans CJK SC"/>
              </a:defRPr>
            </a:pPr>
            <a:r>
              <a:t>同站点同小时配对；建筑等权汇总；工作日与周末分开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80560"/>
            <a:ext cx="10698480" cy="1234440"/>
          </a:xfrm>
          <a:prstGeom prst="roundRect">
            <a:avLst/>
          </a:prstGeom>
          <a:solidFill>
            <a:srgbClr val="EC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645152"/>
            <a:ext cx="7315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26648C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47088" y="4562856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183146"/>
                </a:solidFill>
                <a:latin typeface="Noto Sans CJK SC"/>
              </a:defRPr>
            </a:pPr>
            <a:r>
              <a:t>高负荷标记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47088" y="4983480"/>
            <a:ext cx="9052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4C5860"/>
                </a:solidFill>
                <a:latin typeface="Noto Sans CJK SC"/>
              </a:defRPr>
            </a:pPr>
            <a:r>
              <a:t>非工作时段读数 &gt; 建筑自身 Q3+1.5×IQR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37160"/>
          </a:xfrm>
          <a:prstGeom prst="roundRect">
            <a:avLst/>
          </a:prstGeom>
          <a:solidFill>
            <a:srgbClr val="266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83146"/>
                </a:solidFill>
                <a:latin typeface="Noto Sans CJK SC"/>
              </a:defRPr>
            </a:pPr>
            <a:r>
              <a:t>RQ1｜建筑类型的温度相关性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4C5860"/>
                </a:solidFill>
                <a:latin typeface="Noto Sans CJK SC"/>
              </a:defRPr>
            </a:pPr>
            <a:r>
              <a:t>Pearson r 先在建筑内汇总，再按建筑类型等权平均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900"/>
              </a:spcAft>
              <a:defRPr sz="900" b="0">
                <a:solidFill>
                  <a:srgbClr val="4C5860"/>
                </a:solidFill>
                <a:latin typeface="Noto Sans CJK SC"/>
              </a:defRPr>
            </a:pPr>
            <a:r>
              <a:t>5</a:t>
            </a:r>
          </a:p>
        </p:txBody>
      </p:sp>
      <p:pic>
        <p:nvPicPr>
          <p:cNvPr id="6" name="Picture 5" descr="temperature_ener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10017"/>
            <a:ext cx="7772400" cy="353290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641080" y="1417320"/>
            <a:ext cx="2926080" cy="4462272"/>
          </a:xfrm>
          <a:prstGeom prst="roundRect">
            <a:avLst/>
          </a:prstGeom>
          <a:solidFill>
            <a:srgbClr val="EC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15400" y="1627632"/>
            <a:ext cx="242316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26648C"/>
                </a:solidFill>
                <a:latin typeface="Noto Sans CJK SC"/>
              </a:defRPr>
            </a:pPr>
            <a:r>
              <a:t>观察到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2221992"/>
            <a:ext cx="2423160" cy="3364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183146"/>
                </a:solidFill>
                <a:latin typeface="Noto Sans CJK SC"/>
              </a:defRPr>
            </a:pPr>
            <a:r>
              <a:t>Retail 平均 r 0.3121</a:t>
            </a:r>
          </a:p>
          <a:p>
            <a:pPr>
              <a:spcAft>
                <a:spcPts val="900"/>
              </a:spcAft>
              <a:defRPr sz="1500" b="0">
                <a:solidFill>
                  <a:srgbClr val="183146"/>
                </a:solidFill>
                <a:latin typeface="Noto Sans CJK SC"/>
              </a:defRPr>
            </a:pPr>
            <a:r>
              <a:t>Parking 平均 r -0.2939</a:t>
            </a:r>
          </a:p>
          <a:p>
            <a:pPr>
              <a:spcAft>
                <a:spcPts val="900"/>
              </a:spcAft>
              <a:defRPr sz="1500" b="0">
                <a:solidFill>
                  <a:srgbClr val="183146"/>
                </a:solidFill>
                <a:latin typeface="Noto Sans CJK SC"/>
              </a:defRPr>
            </a:pPr>
            <a:r>
              <a:t>六组共 1,408 栋有效建筑</a:t>
            </a:r>
          </a:p>
          <a:p>
            <a:pPr>
              <a:spcAft>
                <a:spcPts val="900"/>
              </a:spcAft>
              <a:defRPr sz="1500" b="0">
                <a:solidFill>
                  <a:srgbClr val="183146"/>
                </a:solidFill>
                <a:latin typeface="Noto Sans CJK SC"/>
              </a:defRPr>
            </a:pPr>
            <a:r>
              <a:t>组内差异较大，相关性不代表因果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37160"/>
          </a:xfrm>
          <a:prstGeom prst="roundRect">
            <a:avLst/>
          </a:prstGeom>
          <a:solidFill>
            <a:srgbClr val="266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83146"/>
                </a:solidFill>
                <a:latin typeface="Noto Sans CJK SC"/>
              </a:defRPr>
            </a:pPr>
            <a:r>
              <a:t>RQ2｜逐小时曲线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4C5860"/>
                </a:solidFill>
                <a:latin typeface="Noto Sans CJK SC"/>
              </a:defRPr>
            </a:pPr>
            <a:r>
              <a:t>每个非缺失建筑小时计入对应表计的均值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900"/>
              </a:spcAft>
              <a:defRPr sz="900" b="0">
                <a:solidFill>
                  <a:srgbClr val="4C5860"/>
                </a:solidFill>
                <a:latin typeface="Noto Sans CJK SC"/>
              </a:defRPr>
            </a:pPr>
            <a:r>
              <a:t>6</a:t>
            </a:r>
          </a:p>
        </p:txBody>
      </p:sp>
      <p:pic>
        <p:nvPicPr>
          <p:cNvPr id="6" name="Picture 5" descr="hourly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403816"/>
            <a:ext cx="7772400" cy="269044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641080" y="1417320"/>
            <a:ext cx="2926080" cy="4462272"/>
          </a:xfrm>
          <a:prstGeom prst="roundRect">
            <a:avLst/>
          </a:prstGeom>
          <a:solidFill>
            <a:srgbClr val="EC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15400" y="1627632"/>
            <a:ext cx="242316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26648C"/>
                </a:solidFill>
                <a:latin typeface="Noto Sans CJK SC"/>
              </a:defRPr>
            </a:pPr>
            <a:r>
              <a:t>工作日峰值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2221992"/>
            <a:ext cx="2423160" cy="3364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183146"/>
                </a:solidFill>
                <a:latin typeface="Noto Sans CJK SC"/>
              </a:defRPr>
            </a:pPr>
            <a:r>
              <a:t>电力：14:00，175.27</a:t>
            </a:r>
          </a:p>
          <a:p>
            <a:pPr>
              <a:spcAft>
                <a:spcPts val="900"/>
              </a:spcAft>
              <a:defRPr sz="1500" b="0">
                <a:solidFill>
                  <a:srgbClr val="183146"/>
                </a:solidFill>
                <a:latin typeface="Noto Sans CJK SC"/>
              </a:defRPr>
            </a:pPr>
            <a:r>
              <a:t>冷水：20:00，60,645.48</a:t>
            </a:r>
          </a:p>
          <a:p>
            <a:pPr>
              <a:spcAft>
                <a:spcPts val="900"/>
              </a:spcAft>
              <a:defRPr sz="1500" b="0">
                <a:solidFill>
                  <a:srgbClr val="183146"/>
                </a:solidFill>
                <a:latin typeface="Noto Sans CJK SC"/>
              </a:defRPr>
            </a:pPr>
            <a:r>
              <a:t>单位沿用源数据</a:t>
            </a:r>
          </a:p>
          <a:p>
            <a:pPr>
              <a:spcAft>
                <a:spcPts val="900"/>
              </a:spcAft>
              <a:defRPr sz="1500" b="0">
                <a:solidFill>
                  <a:srgbClr val="183146"/>
                </a:solidFill>
                <a:latin typeface="Noto Sans CJK SC"/>
              </a:defRPr>
            </a:pPr>
            <a:r>
              <a:t>两类表计数值不能直接比较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37160"/>
          </a:xfrm>
          <a:prstGeom prst="roundRect">
            <a:avLst/>
          </a:prstGeom>
          <a:solidFill>
            <a:srgbClr val="266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83146"/>
                </a:solidFill>
                <a:latin typeface="Noto Sans CJK SC"/>
              </a:defRPr>
            </a:pPr>
            <a:r>
              <a:t>RQ2｜工作日与周末模式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4C5860"/>
                </a:solidFill>
                <a:latin typeface="Noto Sans CJK SC"/>
              </a:defRPr>
            </a:pPr>
            <a:r>
              <a:t>分别展示电力与冷水表的逐时均值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900"/>
              </a:spcAft>
              <a:defRPr sz="900" b="0">
                <a:solidFill>
                  <a:srgbClr val="4C5860"/>
                </a:solidFill>
                <a:latin typeface="Noto Sans CJK SC"/>
              </a:defRPr>
            </a:pPr>
            <a:r>
              <a:t>7</a:t>
            </a:r>
          </a:p>
        </p:txBody>
      </p:sp>
      <p:pic>
        <p:nvPicPr>
          <p:cNvPr id="6" name="Picture 5" descr="weekday_week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403816"/>
            <a:ext cx="7772400" cy="269044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641080" y="1417320"/>
            <a:ext cx="2926080" cy="4462272"/>
          </a:xfrm>
          <a:prstGeom prst="roundRect">
            <a:avLst/>
          </a:prstGeom>
          <a:solidFill>
            <a:srgbClr val="EC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15400" y="1627632"/>
            <a:ext cx="242316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26648C"/>
                </a:solidFill>
                <a:latin typeface="Noto Sans CJK SC"/>
              </a:defRPr>
            </a:pPr>
            <a:r>
              <a:t>周末峰值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2221992"/>
            <a:ext cx="2423160" cy="3364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183146"/>
                </a:solidFill>
                <a:latin typeface="Noto Sans CJK SC"/>
              </a:defRPr>
            </a:pPr>
            <a:r>
              <a:t>电力：15:00，141.01</a:t>
            </a:r>
          </a:p>
          <a:p>
            <a:pPr>
              <a:spcAft>
                <a:spcPts val="900"/>
              </a:spcAft>
              <a:defRPr sz="1500" b="0">
                <a:solidFill>
                  <a:srgbClr val="183146"/>
                </a:solidFill>
                <a:latin typeface="Noto Sans CJK SC"/>
              </a:defRPr>
            </a:pPr>
            <a:r>
              <a:t>冷水：20:00，55,184.92</a:t>
            </a:r>
          </a:p>
          <a:p>
            <a:pPr>
              <a:spcAft>
                <a:spcPts val="900"/>
              </a:spcAft>
              <a:defRPr sz="1500" b="0">
                <a:solidFill>
                  <a:srgbClr val="183146"/>
                </a:solidFill>
                <a:latin typeface="Noto Sans CJK SC"/>
              </a:defRPr>
            </a:pPr>
            <a:r>
              <a:t>电力午后较高</a:t>
            </a:r>
          </a:p>
          <a:p>
            <a:pPr>
              <a:spcAft>
                <a:spcPts val="900"/>
              </a:spcAft>
              <a:defRPr sz="1500" b="0">
                <a:solidFill>
                  <a:srgbClr val="183146"/>
                </a:solidFill>
                <a:latin typeface="Noto Sans CJK SC"/>
              </a:defRPr>
            </a:pPr>
            <a:r>
              <a:t>冷水晚间较高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37160"/>
          </a:xfrm>
          <a:prstGeom prst="roundRect">
            <a:avLst/>
          </a:prstGeom>
          <a:solidFill>
            <a:srgbClr val="266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83146"/>
                </a:solidFill>
                <a:latin typeface="Noto Sans CJK SC"/>
              </a:defRPr>
            </a:pPr>
            <a:r>
              <a:t>RQ3｜非典型高负荷运行事件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4C5860"/>
                </a:solidFill>
                <a:latin typeface="Noto Sans CJK SC"/>
              </a:defRPr>
            </a:pPr>
            <a:r>
              <a:t>周末全天及工作日 08:00–18:00 以外时段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900"/>
              </a:spcAft>
              <a:defRPr sz="900" b="0">
                <a:solidFill>
                  <a:srgbClr val="4C5860"/>
                </a:solidFill>
                <a:latin typeface="Noto Sans CJK SC"/>
              </a:defRPr>
            </a:pPr>
            <a:r>
              <a:t>8</a:t>
            </a:r>
          </a:p>
        </p:txBody>
      </p:sp>
      <p:pic>
        <p:nvPicPr>
          <p:cNvPr id="6" name="Picture 5" descr="anomaly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82841"/>
            <a:ext cx="7772400" cy="358726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641080" y="1417320"/>
            <a:ext cx="2926080" cy="4462272"/>
          </a:xfrm>
          <a:prstGeom prst="roundRect">
            <a:avLst/>
          </a:prstGeom>
          <a:solidFill>
            <a:srgbClr val="EC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15400" y="1627632"/>
            <a:ext cx="242316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26648C"/>
                </a:solidFill>
                <a:latin typeface="Noto Sans CJK SC"/>
              </a:defRPr>
            </a:pPr>
            <a:r>
              <a:t>待核验标记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2221992"/>
            <a:ext cx="2423160" cy="3364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183146"/>
                </a:solidFill>
                <a:latin typeface="Noto Sans CJK SC"/>
              </a:defRPr>
            </a:pPr>
            <a:r>
              <a:t>标记建筑小时 354,614</a:t>
            </a:r>
          </a:p>
          <a:p>
            <a:pPr>
              <a:spcAft>
                <a:spcPts val="900"/>
              </a:spcAft>
              <a:defRPr sz="1500" b="0">
                <a:solidFill>
                  <a:srgbClr val="183146"/>
                </a:solidFill>
                <a:latin typeface="Noto Sans CJK SC"/>
              </a:defRPr>
            </a:pPr>
            <a:r>
              <a:t>连续事件 105,412</a:t>
            </a:r>
          </a:p>
          <a:p>
            <a:pPr>
              <a:spcAft>
                <a:spcPts val="900"/>
              </a:spcAft>
              <a:defRPr sz="1500" b="0">
                <a:solidFill>
                  <a:srgbClr val="183146"/>
                </a:solidFill>
                <a:latin typeface="Noto Sans CJK SC"/>
              </a:defRPr>
            </a:pPr>
            <a:r>
              <a:t>电力 63,980 个事件</a:t>
            </a:r>
          </a:p>
          <a:p>
            <a:pPr>
              <a:spcAft>
                <a:spcPts val="900"/>
              </a:spcAft>
              <a:defRPr sz="1500" b="0">
                <a:solidFill>
                  <a:srgbClr val="183146"/>
                </a:solidFill>
                <a:latin typeface="Noto Sans CJK SC"/>
              </a:defRPr>
            </a:pPr>
            <a:r>
              <a:t>冷水 41,432 个事件</a:t>
            </a:r>
          </a:p>
          <a:p>
            <a:pPr>
              <a:spcAft>
                <a:spcPts val="900"/>
              </a:spcAft>
              <a:defRPr sz="1500" b="0">
                <a:solidFill>
                  <a:srgbClr val="183146"/>
                </a:solidFill>
                <a:latin typeface="Noto Sans CJK SC"/>
              </a:defRPr>
            </a:pPr>
            <a:r>
              <a:t>需结合运行日志核验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37160"/>
          </a:xfrm>
          <a:prstGeom prst="roundRect">
            <a:avLst/>
          </a:prstGeom>
          <a:solidFill>
            <a:srgbClr val="266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83146"/>
                </a:solidFill>
                <a:latin typeface="Noto Sans CJK SC"/>
              </a:defRPr>
            </a:pPr>
            <a:r>
              <a:t>局限性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4C5860"/>
                </a:solidFill>
                <a:latin typeface="Noto Sans CJK SC"/>
              </a:defRPr>
            </a:pPr>
            <a:r>
              <a:t>统计结果的解释边界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900"/>
              </a:spcAft>
              <a:defRPr sz="900" b="0">
                <a:solidFill>
                  <a:srgbClr val="4C5860"/>
                </a:solidFill>
                <a:latin typeface="Noto Sans CJK SC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344168"/>
            <a:ext cx="10744200" cy="859536"/>
          </a:xfrm>
          <a:prstGeom prst="roundRect">
            <a:avLst/>
          </a:prstGeom>
          <a:solidFill>
            <a:srgbClr val="EC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35608"/>
            <a:ext cx="100584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83146"/>
                </a:solidFill>
                <a:latin typeface="Noto Sans CJK SC"/>
              </a:defRPr>
            </a:pPr>
            <a:r>
              <a:t>未进行能耗单位换算；原始表计量纲未独立确认。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468880"/>
            <a:ext cx="10744200" cy="859536"/>
          </a:xfrm>
          <a:prstGeom prst="roundRect">
            <a:avLst/>
          </a:prstGeom>
          <a:solidFill>
            <a:srgbClr val="EC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100584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83146"/>
                </a:solidFill>
                <a:latin typeface="Noto Sans CJK SC"/>
              </a:defRPr>
            </a:pPr>
            <a:r>
              <a:t>未建立因果模型；相关系数只描述线性相关。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593591"/>
            <a:ext cx="10744200" cy="859536"/>
          </a:xfrm>
          <a:prstGeom prst="roundRect">
            <a:avLst/>
          </a:prstGeom>
          <a:solidFill>
            <a:srgbClr val="EC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685031"/>
            <a:ext cx="100584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83146"/>
                </a:solidFill>
                <a:latin typeface="Noto Sans CJK SC"/>
              </a:defRPr>
            </a:pPr>
            <a:r>
              <a:t>未证明节能收益；缺少干预或对照证据。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718304"/>
            <a:ext cx="10744200" cy="859536"/>
          </a:xfrm>
          <a:prstGeom prst="roundRect">
            <a:avLst/>
          </a:prstGeom>
          <a:solidFill>
            <a:srgbClr val="EC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809744"/>
            <a:ext cx="100584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83146"/>
                </a:solidFill>
                <a:latin typeface="Noto Sans CJK SC"/>
              </a:defRPr>
            </a:pPr>
            <a:r>
              <a:t>异常事件需进一步工程核验；标记不等同于故障。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37160"/>
          </a:xfrm>
          <a:prstGeom prst="roundRect">
            <a:avLst/>
          </a:prstGeom>
          <a:solidFill>
            <a:srgbClr val="266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83146"/>
                </a:solidFill>
                <a:latin typeface="Noto Sans CJK SC"/>
              </a:defRPr>
            </a:pPr>
            <a:r>
              <a:t>完成建筑能源运行模式分析流程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4C5860"/>
                </a:solidFill>
                <a:latin typeface="Noto Sans CJK SC"/>
              </a:defRPr>
            </a:pPr>
            <a:r>
              <a:t>三个研究问题的观察结果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900"/>
              </a:spcAft>
              <a:defRPr sz="900" b="0">
                <a:solidFill>
                  <a:srgbClr val="4C5860"/>
                </a:solidFill>
                <a:latin typeface="Noto Sans CJK SC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89888"/>
            <a:ext cx="10698480" cy="1143000"/>
          </a:xfrm>
          <a:prstGeom prst="roundRect">
            <a:avLst/>
          </a:prstGeom>
          <a:solidFill>
            <a:srgbClr val="EC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1636776"/>
            <a:ext cx="1005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26648C"/>
                </a:solidFill>
                <a:latin typeface="Noto Sans CJK SC"/>
              </a:defRPr>
            </a:pPr>
            <a:r>
              <a:t>RQ1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76272" y="1508760"/>
            <a:ext cx="88696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3146"/>
                </a:solidFill>
                <a:latin typeface="Noto Sans CJK SC"/>
              </a:defRPr>
            </a:pPr>
            <a:r>
              <a:t>建筑类型平均 r 的方向与大小有差异；Retail 0.3121，Parking -0.2939。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98648"/>
            <a:ext cx="10698480" cy="1143000"/>
          </a:xfrm>
          <a:prstGeom prst="roundRect">
            <a:avLst/>
          </a:prstGeom>
          <a:solidFill>
            <a:srgbClr val="EC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3145536"/>
            <a:ext cx="1005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26648C"/>
                </a:solidFill>
                <a:latin typeface="Noto Sans CJK SC"/>
              </a:defRPr>
            </a:pPr>
            <a:r>
              <a:t>RQ2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76272" y="3017520"/>
            <a:ext cx="88696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3146"/>
                </a:solidFill>
                <a:latin typeface="Noto Sans CJK SC"/>
              </a:defRPr>
            </a:pPr>
            <a:r>
              <a:t>电力工作日峰值在 14:00，冷水工作日峰值在 20:00。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407408"/>
            <a:ext cx="10698480" cy="1143000"/>
          </a:xfrm>
          <a:prstGeom prst="roundRect">
            <a:avLst/>
          </a:prstGeom>
          <a:solidFill>
            <a:srgbClr val="EC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4654296"/>
            <a:ext cx="1005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26648C"/>
                </a:solidFill>
                <a:latin typeface="Noto Sans CJK SC"/>
              </a:defRPr>
            </a:pPr>
            <a:r>
              <a:t>RQ3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76272" y="4526280"/>
            <a:ext cx="88696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3146"/>
                </a:solidFill>
                <a:latin typeface="Noto Sans CJK SC"/>
              </a:defRPr>
            </a:pPr>
            <a:r>
              <a:t>非工作时段标记 354,614 个建筑小时，合并为 105,412 个待核验事件。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